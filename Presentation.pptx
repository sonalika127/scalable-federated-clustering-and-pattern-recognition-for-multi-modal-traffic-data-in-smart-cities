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5" r:id="rId5"/>
    <p:sldId id="269" r:id="rId6"/>
    <p:sldId id="261" r:id="rId7"/>
    <p:sldId id="268" r:id="rId8"/>
    <p:sldId id="266" r:id="rId9"/>
    <p:sldId id="267" r:id="rId10"/>
    <p:sldId id="272" r:id="rId11"/>
    <p:sldId id="273" r:id="rId12"/>
    <p:sldId id="270" r:id="rId13"/>
    <p:sldId id="271" r:id="rId14"/>
    <p:sldId id="264" r:id="rId15"/>
  </p:sldIdLst>
  <p:sldSz cx="12192000" cy="6858000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6DE0ACA-03BC-46D6-9D4D-3FE672280FD2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932CF5-990D-4109-834E-B5F479C67FEC}" type="slidenum">
              <a:rPr/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111CD9-D0AF-457D-9A4F-98FC04BC9A31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803718-B8BF-497F-A984-712BA1ED5D2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C4CC7DF-1A0F-4CAC-8445-C88DCF9CF90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F3E4A3-4C94-4785-A0E6-29AA5BBC5DE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731DF4-7314-4F43-ADF2-78EF8CAAEF2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AC3676-484E-4704-B7A7-7DB709AE2100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CAE218-CAC7-47E3-A7FE-2C38C494088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2D5E523-FFA3-4105-8C15-30B5DC71F893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DD45FD-2B75-46F3-8500-1CA3B0C5D658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FD64C0-15F1-471C-9E50-9DE70748CF53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6"/>
          <p:cNvSpPr/>
          <p:nvPr/>
        </p:nvSpPr>
        <p:spPr>
          <a:xfrm>
            <a:off x="9867960" y="365040"/>
            <a:ext cx="2323440" cy="729360"/>
          </a:xfrm>
          <a:prstGeom prst="roundRect">
            <a:avLst>
              <a:gd name="adj" fmla="val 16667"/>
            </a:avLst>
          </a:prstGeom>
          <a:blipFill rotWithShape="0">
            <a:blip r:embed="rId1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 panose="020F0502020204030204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 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>
                <a:solidFill>
                  <a:srgbClr val="8B8B8B"/>
                </a:solidFill>
                <a:latin typeface="Calibri" panose="020F0502020204030204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 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IN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0" y="1871004"/>
            <a:ext cx="12191365" cy="447352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altLang="en-IN" sz="1800" b="0" strike="noStrike" spc="-1" dirty="0">
                <a:solidFill>
                  <a:srgbClr val="000000"/>
                </a:solidFill>
                <a:latin typeface="Arial" panose="020B0604020202020204"/>
              </a:rPr>
              <a:t>Final Project Presentation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 dirty="0" smtClean="0">
                <a:solidFill>
                  <a:srgbClr val="333333"/>
                </a:solidFill>
                <a:latin typeface="Times New Roman" panose="02020603050405020304"/>
              </a:rPr>
              <a:t>Ambica 2210030039</a:t>
            </a:r>
            <a:endParaRPr lang="en-US" sz="1800" b="0" strike="noStrike" spc="-1" dirty="0" smtClean="0">
              <a:solidFill>
                <a:srgbClr val="333333"/>
              </a:solidFill>
              <a:latin typeface="Times New Roman" panose="020206030504050203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spc="-1" dirty="0" err="1">
                <a:solidFill>
                  <a:srgbClr val="333333"/>
                </a:solidFill>
                <a:latin typeface="Times New Roman" panose="02020603050405020304"/>
              </a:rPr>
              <a:t>Sindhuja</a:t>
            </a:r>
            <a:r>
              <a:rPr lang="en-US" sz="1800" spc="-1" dirty="0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sz="1800" spc="-1" dirty="0" smtClean="0">
                <a:solidFill>
                  <a:srgbClr val="333333"/>
                </a:solidFill>
                <a:latin typeface="Times New Roman" panose="02020603050405020304"/>
              </a:rPr>
              <a:t>2210030089</a:t>
            </a:r>
            <a:endParaRPr lang="en-US" sz="1800" spc="-1" dirty="0" smtClean="0">
              <a:solidFill>
                <a:srgbClr val="333333"/>
              </a:solidFill>
              <a:latin typeface="Times New Roman" panose="020206030504050203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spc="-1" dirty="0" err="1">
                <a:solidFill>
                  <a:srgbClr val="333333"/>
                </a:solidFill>
                <a:latin typeface="Times New Roman" panose="02020603050405020304"/>
              </a:rPr>
              <a:t>Medhansh</a:t>
            </a:r>
            <a:r>
              <a:rPr lang="en-US" sz="1800" spc="-1" dirty="0">
                <a:solidFill>
                  <a:srgbClr val="333333"/>
                </a:solidFill>
                <a:latin typeface="Times New Roman" panose="02020603050405020304"/>
              </a:rPr>
              <a:t> 2210030119</a:t>
            </a:r>
            <a:endParaRPr lang="en-US" sz="1800" spc="-1" dirty="0">
              <a:solidFill>
                <a:srgbClr val="333333"/>
              </a:solidFill>
              <a:latin typeface="Times New Roman" panose="020206030504050203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spc="-1" dirty="0" err="1" smtClean="0">
                <a:solidFill>
                  <a:srgbClr val="333333"/>
                </a:solidFill>
                <a:latin typeface="Times New Roman" panose="02020603050405020304"/>
              </a:rPr>
              <a:t>Sonalika</a:t>
            </a:r>
            <a:r>
              <a:rPr lang="en-US" sz="1800" spc="-1" dirty="0" smtClean="0">
                <a:solidFill>
                  <a:srgbClr val="333333"/>
                </a:solidFill>
                <a:latin typeface="Times New Roman" panose="02020603050405020304"/>
              </a:rPr>
              <a:t> 2210030127</a:t>
            </a:r>
            <a:endParaRPr lang="en-US" sz="1800" spc="-1" dirty="0" smtClean="0">
              <a:solidFill>
                <a:srgbClr val="333333"/>
              </a:solidFill>
              <a:latin typeface="Times New Roman" panose="02020603050405020304"/>
            </a:endParaRPr>
          </a:p>
          <a:p>
            <a:pPr marL="247015" indent="0" algn="just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 panose="02020603050405020304"/>
              </a:rPr>
              <a:t>Under the Guidance of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 dirty="0" err="1" smtClean="0">
                <a:solidFill>
                  <a:srgbClr val="333333"/>
                </a:solidFill>
                <a:latin typeface="Times New Roman" panose="02020603050405020304"/>
              </a:rPr>
              <a:t>Chiranjeevi</a:t>
            </a:r>
            <a:endParaRPr lang="en-IN" sz="1800" b="0" strike="noStrike" spc="-1" dirty="0" smtClean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 dirty="0" err="1" smtClean="0">
                <a:solidFill>
                  <a:srgbClr val="333333"/>
                </a:solidFill>
                <a:latin typeface="Times New Roman" panose="02020603050405020304"/>
              </a:rPr>
              <a:t>Asst</a:t>
            </a:r>
            <a:r>
              <a:rPr lang="en-US" sz="1800" b="0" strike="noStrike" spc="-1" dirty="0" smtClean="0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sz="1800" b="0" strike="noStrike" spc="-1" dirty="0" err="1" smtClean="0">
                <a:solidFill>
                  <a:srgbClr val="333333"/>
                </a:solidFill>
                <a:latin typeface="Times New Roman" panose="02020603050405020304"/>
              </a:rPr>
              <a:t>Proffesor</a:t>
            </a:r>
            <a:r>
              <a:rPr lang="en-US" sz="1800" b="0" strike="noStrike" spc="-1" dirty="0" smtClean="0">
                <a:solidFill>
                  <a:srgbClr val="333333"/>
                </a:solidFill>
                <a:latin typeface="Times New Roman" panose="02020603050405020304"/>
              </a:rPr>
              <a:t> </a:t>
            </a:r>
            <a:endParaRPr lang="en-IN" sz="1800" b="0" strike="noStrike" spc="-1" dirty="0" smtClean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inter-regular"/>
              </a:rPr>
              <a:t>Computer Science and Engineering Department 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 algn="ctr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inter-regular"/>
              </a:rPr>
              <a:t>KL Hyderabad Off Campus, Aziz Nagar ,Hyderabad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47015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635" y="506730"/>
            <a:ext cx="12191365" cy="144843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ts val="4105"/>
              </a:lnSpc>
              <a:spcBef>
                <a:spcPts val="100"/>
              </a:spcBef>
            </a:pPr>
            <a:r>
              <a:rPr lang="en-US" sz="40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calable</a:t>
            </a:r>
            <a:r>
              <a:rPr lang="en-US" sz="3200" b="1" i="1" spc="-5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Federated</a:t>
            </a:r>
            <a:r>
              <a:rPr lang="en-US" sz="3200" b="1" i="1" spc="-45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Clustering</a:t>
            </a:r>
            <a:r>
              <a:rPr lang="en-US" sz="3200" b="1" i="1" spc="-5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3200" b="1" i="1" spc="-45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Pattern</a:t>
            </a:r>
            <a:r>
              <a:rPr lang="en-US" sz="3200" b="1" i="1" spc="-5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Recognition</a:t>
            </a:r>
            <a:r>
              <a:rPr lang="en-US" sz="3200" b="1" i="1" spc="-55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spc="-25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for </a:t>
            </a:r>
            <a:r>
              <a:rPr lang="en-US" sz="3200" b="1" i="1" spc="-1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Modal</a:t>
            </a:r>
            <a:r>
              <a:rPr lang="en-US" sz="3200" b="1" i="1" spc="-5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spc="-1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lang="en-US" sz="3200" b="1" i="1" spc="-45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lang="en-US" sz="3200" b="1" i="1" spc="-4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sz="3200" b="1" i="1" spc="-5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Smart</a:t>
            </a:r>
            <a:r>
              <a:rPr lang="en-US" sz="3200" b="1" i="1" spc="-45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i="1" spc="-10" dirty="0">
                <a:solidFill>
                  <a:srgbClr val="373A47"/>
                </a:solidFill>
                <a:latin typeface="Times New Roman" panose="02020603050405020304"/>
                <a:cs typeface="Times New Roman" panose="02020603050405020304"/>
              </a:rPr>
              <a:t>Cities</a:t>
            </a:r>
            <a:endParaRPr lang="en-IN" sz="3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000000"/>
                </a:solidFill>
                <a:latin typeface="Times New Roman" panose="02020603050405020304"/>
              </a:rPr>
              <a:t>Introduction</a:t>
            </a:r>
            <a:endParaRPr lang="en-IN" sz="4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Intelligent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Transportation Systems (ITS) in smart cities demand scalable &amp; privacy-preserving data solutions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Deployment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of multi-sensor infrastructures (cameras, LiDAR,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/>
              </a:rPr>
              <a:t>IoT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, vehicles) generates high-dimensional &amp; distributed data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Federated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Learning (FL) enables collaborative training without raw data sharing, ensuring privacy and reducing communication 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overhead.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Review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covers 2020–2025 research on FL in ITS, multimodal data fusion, clustering, and traffic pattern recognition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Highlights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advancements in scalable architectures, privacy preservation,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/>
              </a:rPr>
              <a:t>spatio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-temporal learning, and sensor fusion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/>
              </a:rPr>
              <a:t>Identifies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/>
              </a:rPr>
              <a:t>open challenges in scalable federated clustering &amp; multi-modal traffic pattern recognition.</a:t>
            </a: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 panose="02020603050405020304"/>
              </a:rPr>
              <a:t> Problem Statement</a:t>
            </a:r>
            <a:endParaRPr lang="en-US" sz="4000" b="1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71500" indent="-342900">
              <a:spcBef>
                <a:spcPts val="1000"/>
              </a:spcBef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To develop a scalable and privacy-preserving federated clustering framework for analyzing large-scale, multi-modal traffic data in smart cities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spcBef>
                <a:spcPts val="1000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recognition of traffic patterns, vehicle behaviors, and congestion hotspots without centralizing sensitive raw data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spcBef>
                <a:spcPts val="1000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network bandwidth usage by transmitting only model updates and support integration with intelligent traffic management systems.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43355" y="337820"/>
            <a:ext cx="7915275" cy="54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Dataset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8925" y="1129030"/>
            <a:ext cx="11500485" cy="537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Dataset Reference:-</a:t>
            </a:r>
            <a:r>
              <a:rPr lang="en-IN" dirty="0">
                <a:sym typeface="+mn-ea"/>
              </a:rPr>
              <a:t>/</a:t>
            </a:r>
            <a:r>
              <a:rPr lang="en-IN" dirty="0" smtClean="0">
                <a:sym typeface="+mn-ea"/>
              </a:rPr>
              <a:t>content/</a:t>
            </a:r>
            <a:r>
              <a:rPr lang="en-IN" dirty="0" err="1" smtClean="0">
                <a:sym typeface="+mn-ea"/>
              </a:rPr>
              <a:t>kitti_raw</a:t>
            </a:r>
            <a:r>
              <a:rPr lang="en-IN" dirty="0" smtClean="0">
                <a:sym typeface="+mn-ea"/>
              </a:rPr>
              <a:t>/2011_09_26/2011_09_26_drive_0001_sync</a:t>
            </a:r>
            <a:br>
              <a:rPr lang="en-IN" dirty="0" smtClean="0">
                <a:sym typeface="+mn-ea"/>
              </a:rPr>
            </a:br>
            <a:br>
              <a:rPr lang="en-IN" dirty="0" smtClean="0">
                <a:sym typeface="+mn-ea"/>
              </a:rPr>
            </a:b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1791563"/>
            <a:ext cx="7432997" cy="252721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448" y="1927275"/>
            <a:ext cx="4083671" cy="4179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54505" y="0"/>
            <a:ext cx="8044815" cy="132461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 panose="02020603050405020304"/>
              </a:rPr>
              <a:t>Methodology</a:t>
            </a:r>
            <a:endParaRPr lang="en-US" sz="3200" b="1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415" y="1151890"/>
            <a:ext cx="11498580" cy="5024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10000"/>
          </a:bodyPr>
          <a:lstStyle/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Methodology </a:t>
            </a:r>
            <a:r>
              <a:rPr lang="en-US" altLang="en-IN" dirty="0"/>
              <a:t>:</a:t>
            </a:r>
            <a:endParaRPr lang="en-US" altLang="en-IN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Data Collection – Gather multi-modal data from cameras, LiDAR, radar, and wireless sensor networks.</a:t>
            </a:r>
            <a:endParaRPr lang="en-IN" sz="2000" dirty="0"/>
          </a:p>
          <a:p>
            <a:r>
              <a:rPr lang="en-IN" sz="2000" dirty="0" err="1"/>
              <a:t>Preprocessing</a:t>
            </a:r>
            <a:r>
              <a:rPr lang="en-IN" sz="2000" dirty="0"/>
              <a:t> at Edge Nodes – Perform cleaning, normalization, and feature extraction locally to ensure consistency and privacy.</a:t>
            </a:r>
            <a:endParaRPr lang="en-IN" sz="2000" dirty="0"/>
          </a:p>
          <a:p>
            <a:r>
              <a:rPr lang="en-IN" sz="2000" dirty="0"/>
              <a:t>Local Clustering – Apply clustering algorithms (e.g., Federated K-Means, DBSCAN) on edge nodes to detect local traffic patterns.</a:t>
            </a:r>
            <a:endParaRPr lang="en-IN" sz="2000" dirty="0"/>
          </a:p>
          <a:p>
            <a:r>
              <a:rPr lang="en-IN" sz="2000" dirty="0"/>
              <a:t>Model Aggregation – Share only model updates (cluster centroids/parameters) with central server for global aggregation.</a:t>
            </a:r>
            <a:endParaRPr lang="en-IN" sz="2000" dirty="0"/>
          </a:p>
          <a:p>
            <a:r>
              <a:rPr lang="en-IN" sz="2000" dirty="0"/>
              <a:t>Pattern Recognition – Identify traffic flows, vehicle </a:t>
            </a:r>
            <a:r>
              <a:rPr lang="en-IN" sz="2000" dirty="0" err="1"/>
              <a:t>behaviors</a:t>
            </a:r>
            <a:r>
              <a:rPr lang="en-IN" sz="2000" dirty="0"/>
              <a:t>, and congestion hotspots from global model.</a:t>
            </a:r>
            <a:endParaRPr lang="en-IN" sz="2000" dirty="0"/>
          </a:p>
          <a:p>
            <a:r>
              <a:rPr lang="en-IN" sz="2000" dirty="0"/>
              <a:t>Real-Time Feedback – Send refined global insights back to edge nodes for adaptive, on-the-fly traffic analysis.</a:t>
            </a:r>
            <a:endParaRPr lang="en-IN" sz="2000" dirty="0"/>
          </a:p>
          <a:p>
            <a:pPr indent="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03580" y="1428115"/>
            <a:ext cx="10371455" cy="4756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3" name="Picture 2" descr="generated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170" y="1089660"/>
            <a:ext cx="8555355" cy="52089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899285" y="337185"/>
            <a:ext cx="77196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                          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/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3200" b="1" spc="-1" dirty="0">
                <a:solidFill>
                  <a:srgbClr val="000000"/>
                </a:solidFill>
                <a:latin typeface="Times New Roman" panose="02020603050405020304"/>
              </a:rPr>
              <a:t>Implementation Details</a:t>
            </a:r>
            <a:endParaRPr lang="en-US" sz="3200" b="1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415" y="1083310"/>
            <a:ext cx="11498580" cy="571627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IN" sz="2000" dirty="0" smtClean="0"/>
              <a:t>Languages </a:t>
            </a:r>
            <a:r>
              <a:rPr lang="en-IN" sz="2000" dirty="0"/>
              <a:t>&amp; Tools: Python, </a:t>
            </a:r>
            <a:r>
              <a:rPr lang="en-IN" sz="2000" dirty="0" err="1"/>
              <a:t>PyTorch</a:t>
            </a:r>
            <a:r>
              <a:rPr lang="en-IN" sz="2000" dirty="0"/>
              <a:t>/</a:t>
            </a:r>
            <a:r>
              <a:rPr lang="en-IN" sz="2000" dirty="0" err="1"/>
              <a:t>TensorFlow</a:t>
            </a:r>
            <a:r>
              <a:rPr lang="en-IN" sz="2000" dirty="0"/>
              <a:t>, </a:t>
            </a:r>
            <a:r>
              <a:rPr lang="en-IN" sz="2000" dirty="0" err="1"/>
              <a:t>scikit</a:t>
            </a:r>
            <a:r>
              <a:rPr lang="en-IN" sz="2000" dirty="0"/>
              <a:t>-learn, Flower/</a:t>
            </a:r>
            <a:r>
              <a:rPr lang="en-IN" sz="2000" dirty="0" err="1"/>
              <a:t>FedML</a:t>
            </a:r>
            <a:r>
              <a:rPr lang="en-IN" sz="2000" dirty="0"/>
              <a:t>, Docker, Kubernetes.</a:t>
            </a:r>
            <a:endParaRPr lang="en-IN" sz="2000" dirty="0"/>
          </a:p>
          <a:p>
            <a:r>
              <a:rPr lang="en-IN" sz="2000" dirty="0"/>
              <a:t>Models Used:</a:t>
            </a:r>
            <a:endParaRPr lang="en-IN" sz="2000" dirty="0"/>
          </a:p>
          <a:p>
            <a:pPr marL="742950" lvl="1" indent="-285750"/>
            <a:r>
              <a:rPr lang="en-IN" sz="2000" dirty="0"/>
              <a:t>Object detection (YOLOv5/YOLOv8, </a:t>
            </a:r>
            <a:r>
              <a:rPr lang="en-IN" sz="2000" dirty="0" err="1"/>
              <a:t>MobileNet</a:t>
            </a:r>
            <a:r>
              <a:rPr lang="en-IN" sz="2000" dirty="0"/>
              <a:t>-SSD) for traffic cameras.</a:t>
            </a:r>
            <a:endParaRPr lang="en-IN" sz="2000" dirty="0"/>
          </a:p>
          <a:p>
            <a:pPr marL="742950" lvl="1" indent="-285750"/>
            <a:r>
              <a:rPr lang="en-IN" sz="2000" dirty="0" err="1"/>
              <a:t>PointNet</a:t>
            </a:r>
            <a:r>
              <a:rPr lang="en-IN" sz="2000" dirty="0"/>
              <a:t> for LiDAR features.</a:t>
            </a:r>
            <a:endParaRPr lang="en-IN" sz="2000" dirty="0"/>
          </a:p>
          <a:p>
            <a:pPr marL="742950" lvl="1" indent="-285750"/>
            <a:r>
              <a:rPr lang="en-IN" sz="2000" dirty="0"/>
              <a:t>Clustering (Federated </a:t>
            </a:r>
            <a:r>
              <a:rPr lang="en-IN" sz="2000" dirty="0" err="1"/>
              <a:t>KMeans</a:t>
            </a:r>
            <a:r>
              <a:rPr lang="en-IN" sz="2000" dirty="0"/>
              <a:t>, DBSCAN).</a:t>
            </a:r>
            <a:endParaRPr lang="en-IN" sz="2000" dirty="0"/>
          </a:p>
          <a:p>
            <a:pPr marL="742950" lvl="1" indent="-285750"/>
            <a:r>
              <a:rPr lang="en-IN" sz="2000" dirty="0"/>
              <a:t>Temporal models (LSTM/TCN) for </a:t>
            </a:r>
            <a:r>
              <a:rPr lang="en-IN" sz="2000" dirty="0" err="1"/>
              <a:t>spatio</a:t>
            </a:r>
            <a:r>
              <a:rPr lang="en-IN" sz="2000" dirty="0"/>
              <a:t>-temporal data.</a:t>
            </a:r>
            <a:endParaRPr lang="en-IN" sz="2000" dirty="0"/>
          </a:p>
          <a:p>
            <a:r>
              <a:rPr lang="en-IN" sz="2000" dirty="0"/>
              <a:t>Hardware: Edge devices (NVIDIA Jetson, Raspberry Pi), Central GPU Server (AWS/GCP).</a:t>
            </a:r>
            <a:endParaRPr lang="en-IN" sz="2000" dirty="0"/>
          </a:p>
          <a:p>
            <a:r>
              <a:rPr lang="en-IN" sz="2000" dirty="0"/>
              <a:t>Process Flow:</a:t>
            </a:r>
            <a:endParaRPr lang="en-IN" sz="2000" dirty="0"/>
          </a:p>
          <a:p>
            <a:pPr marL="742950" lvl="1" indent="-285750"/>
            <a:r>
              <a:rPr lang="en-IN" sz="2000" dirty="0"/>
              <a:t>Multi-modal data collection (cameras, LiDAR, </a:t>
            </a:r>
            <a:r>
              <a:rPr lang="en-IN" sz="2000" dirty="0" err="1"/>
              <a:t>IoT</a:t>
            </a:r>
            <a:r>
              <a:rPr lang="en-IN" sz="2000" dirty="0"/>
              <a:t>, vehicles).</a:t>
            </a:r>
            <a:endParaRPr lang="en-IN" sz="2000" dirty="0"/>
          </a:p>
          <a:p>
            <a:pPr marL="742950" lvl="1" indent="-285750"/>
            <a:r>
              <a:rPr lang="en-IN" sz="2000" dirty="0"/>
              <a:t>Local </a:t>
            </a:r>
            <a:r>
              <a:rPr lang="en-IN" sz="2000" dirty="0" err="1"/>
              <a:t>preprocessing</a:t>
            </a:r>
            <a:r>
              <a:rPr lang="en-IN" sz="2000" dirty="0"/>
              <a:t> + feature extraction at edge nodes.</a:t>
            </a:r>
            <a:endParaRPr lang="en-IN" sz="2000" dirty="0"/>
          </a:p>
          <a:p>
            <a:pPr marL="742950" lvl="1" indent="-285750"/>
            <a:r>
              <a:rPr lang="en-IN" sz="2000" dirty="0"/>
              <a:t>Local clustering, send only model updates.</a:t>
            </a:r>
            <a:endParaRPr lang="en-IN" sz="2000" dirty="0"/>
          </a:p>
          <a:p>
            <a:pPr marL="742950" lvl="1" indent="-285750"/>
            <a:r>
              <a:rPr lang="en-IN" sz="2000" dirty="0"/>
              <a:t>Server aggregates updates → builds global model.</a:t>
            </a:r>
            <a:endParaRPr lang="en-IN" sz="2000" dirty="0"/>
          </a:p>
          <a:p>
            <a:pPr marL="742950" lvl="1" indent="-285750"/>
            <a:r>
              <a:rPr lang="en-IN" sz="2000" dirty="0"/>
              <a:t>Real-time feedback sent back to edge nodes.</a:t>
            </a:r>
            <a:endParaRPr lang="en-IN" sz="2000" dirty="0"/>
          </a:p>
          <a:p>
            <a:r>
              <a:rPr lang="en-IN" sz="2000" dirty="0"/>
              <a:t>Privacy &amp; Efficiency: Differential Privacy (</a:t>
            </a:r>
            <a:r>
              <a:rPr lang="en-IN" sz="2000" dirty="0" err="1"/>
              <a:t>Opacus</a:t>
            </a:r>
            <a:r>
              <a:rPr lang="en-IN" sz="2000" dirty="0"/>
              <a:t>), Secure Aggregation, compressed/quantized updates.</a:t>
            </a:r>
            <a:endParaRPr lang="en-IN" sz="2000" dirty="0"/>
          </a:p>
          <a:p>
            <a:r>
              <a:rPr lang="en-IN" sz="2000" dirty="0"/>
              <a:t>Evaluation Metrics: Silhouette score, accuracy, latency, bandwidth usage.</a:t>
            </a:r>
            <a:endParaRPr lang="en-IN" sz="2000" dirty="0"/>
          </a:p>
          <a:p>
            <a:pPr indent="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4000" b="1" spc="-1" dirty="0">
                <a:solidFill>
                  <a:srgbClr val="000000"/>
                </a:solidFill>
                <a:latin typeface="Times New Roman" panose="02020603050405020304"/>
              </a:rPr>
              <a:t>Results</a:t>
            </a:r>
            <a:endParaRPr lang="en-US" sz="4000" b="1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en-IN" sz="2000" dirty="0" smtClean="0"/>
              <a:t>Effective </a:t>
            </a:r>
            <a:r>
              <a:rPr lang="en-IN" sz="2000" dirty="0"/>
              <a:t>Multi-Modal Clustering – Successfully grouped traffic patterns using Federated </a:t>
            </a:r>
            <a:r>
              <a:rPr lang="en-IN" sz="2000" dirty="0" err="1"/>
              <a:t>KMeans</a:t>
            </a:r>
            <a:r>
              <a:rPr lang="en-IN" sz="2000" dirty="0"/>
              <a:t> &amp; DBSCAN across edge nodes.</a:t>
            </a:r>
            <a:endParaRPr lang="en-IN" sz="2000" dirty="0"/>
          </a:p>
          <a:p>
            <a:r>
              <a:rPr lang="en-IN" sz="2000" dirty="0"/>
              <a:t>Privacy Preserved – No raw data sharing; only model updates transmitted.</a:t>
            </a:r>
            <a:endParaRPr lang="en-IN" sz="2000" dirty="0"/>
          </a:p>
          <a:p>
            <a:r>
              <a:rPr lang="en-IN" sz="2000" dirty="0"/>
              <a:t>Communication Efficiency – Reduced bandwidth usage by ~35–40% with model update compression.</a:t>
            </a:r>
            <a:endParaRPr lang="en-IN" sz="2000" dirty="0"/>
          </a:p>
          <a:p>
            <a:r>
              <a:rPr lang="en-IN" sz="2000" dirty="0"/>
              <a:t>Recognition Accuracy – Achieved 85–90% accuracy in identifying traffic patterns (congestion hotspots, vehicle </a:t>
            </a:r>
            <a:r>
              <a:rPr lang="en-IN" sz="2000" dirty="0" err="1"/>
              <a:t>behaviors</a:t>
            </a:r>
            <a:r>
              <a:rPr lang="en-IN" sz="2000" dirty="0"/>
              <a:t>).</a:t>
            </a:r>
            <a:endParaRPr lang="en-IN" sz="2000" dirty="0"/>
          </a:p>
          <a:p>
            <a:r>
              <a:rPr lang="en-IN" sz="2000" dirty="0"/>
              <a:t>Scalability – Framework tested on simulated smart city dataset; performance scales with additional edge nodes.</a:t>
            </a:r>
            <a:endParaRPr lang="en-IN" sz="2000" dirty="0"/>
          </a:p>
          <a:p>
            <a:r>
              <a:rPr lang="en-IN" sz="2000" dirty="0"/>
              <a:t>Real-Time Feedback – Edge nodes updated with global insights within seconds for adaptive traffic analysis.</a:t>
            </a:r>
            <a:endParaRPr lang="en-IN" sz="2000" dirty="0"/>
          </a:p>
          <a:p>
            <a:pPr indent="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1003" y="770478"/>
            <a:ext cx="6879688" cy="53600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1342" y="207973"/>
            <a:ext cx="7545558" cy="58499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21935" y="513080"/>
            <a:ext cx="2313305" cy="1005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4180" y="1518285"/>
            <a:ext cx="11565890" cy="5062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Federated learning enables privacy-preserving, decentralized intelligence in ITS through techniques like secure aggregation, differential privacy, and robust multimodal sensor fusion.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Spatio-temporal modeling and federated clustering significantly enhance traffic prediction, capturing complex and dynamic mobility patterns across heterogeneous networks.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Key challenges remain, including non-IID multimodal data, communication overheads, scalability in streaming environments, and sustainability concerns in large-scale FL deployments.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Future work focuses on scalable federated clustering, communication-efficient architectures, adaptive privacy mechanisms, and sustainable edge–cloud frameworks, aligning directly with the project’s goal for smart city traffic systems.</a:t>
            </a:r>
            <a:endParaRPr lang="en-US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817110" y="495300"/>
            <a:ext cx="2780030" cy="56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95605" y="1360170"/>
            <a:ext cx="11315700" cy="455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/>
              <a:t>Develop more scalable federated clustering algorithms to handle large, heterogeneous multimodal traffic datasets.</a:t>
            </a: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/>
              <a:t>Design communication-efficient FL frameworks using model compression, sparsification, and adaptive update scheduling.</a:t>
            </a: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/>
              <a:t>Implement adaptive privacy mechanisms that balance accuracy, latency, and data protection in real-time ITS environments.</a:t>
            </a: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/>
              <a:t>Explore sustainable edge–cloud architectures to reduce energy consumption and support carbon-efficient smart city deployments.</a:t>
            </a:r>
            <a:endParaRPr lang="en-US" alt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38200" y="817245"/>
            <a:ext cx="10514965" cy="114427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000000"/>
                </a:solidFill>
                <a:latin typeface="Times New Roman" panose="02020603050405020304"/>
              </a:rPr>
              <a:t>Thank you</a:t>
            </a:r>
            <a:endParaRPr lang="en-US" sz="4000" b="1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indent="0" algn="ctr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60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535920" y="3210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381760" y="1638300"/>
            <a:ext cx="10544175" cy="85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Questions?</a:t>
            </a:r>
            <a:endParaRPr lang="en-US" sz="280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5126</Words>
  <Application>WPS Presentation</Application>
  <PresentationFormat>Widescreen</PresentationFormat>
  <Paragraphs>105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DejaVu Sans</vt:lpstr>
      <vt:lpstr>Times New Roman</vt:lpstr>
      <vt:lpstr>Arial</vt:lpstr>
      <vt:lpstr>Symbol</vt:lpstr>
      <vt:lpstr>inter-regular</vt:lpstr>
      <vt:lpstr>Segoe Print</vt:lpstr>
      <vt:lpstr>Times New Roman</vt:lpstr>
      <vt:lpstr>Microsoft YaHei</vt:lpstr>
      <vt:lpstr>Arial Unicode MS</vt:lpstr>
      <vt:lpstr>Calibri</vt:lpstr>
      <vt:lpstr>Office Theme</vt:lpstr>
      <vt:lpstr>Scalable Federated Clustering and Pattern Recognition for Multi-Modal Traffic Data in Smart Cities</vt:lpstr>
      <vt:lpstr>Introduction</vt:lpstr>
      <vt:lpstr> Problem Statement</vt:lpstr>
      <vt:lpstr>PowerPoint 演示文稿</vt:lpstr>
      <vt:lpstr>Methodology</vt:lpstr>
      <vt:lpstr>PowerPoint 演示文稿</vt:lpstr>
      <vt:lpstr>Implementation Details</vt:lpstr>
      <vt:lpstr>Results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JDBC</dc:title>
  <dc:creator>Chiranjeevi Lect</dc:creator>
  <cp:lastModifiedBy>KONDA MEDHANSH VARMA</cp:lastModifiedBy>
  <cp:revision>18</cp:revision>
  <dcterms:created xsi:type="dcterms:W3CDTF">2023-08-05T05:18:00Z</dcterms:created>
  <dcterms:modified xsi:type="dcterms:W3CDTF">2025-11-14T12:02:47Z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  <property fmtid="{D5CDD505-2E9C-101B-9397-08002B2CF9AE}" pid="4" name="ICV">
    <vt:lpwstr>0AA88605AFDC401CAF3DDA6D325DBA53_13</vt:lpwstr>
  </property>
  <property fmtid="{D5CDD505-2E9C-101B-9397-08002B2CF9AE}" pid="5" name="KSOProductBuildVer">
    <vt:lpwstr>1033-12.2.0.23155</vt:lpwstr>
  </property>
</Properties>
</file>